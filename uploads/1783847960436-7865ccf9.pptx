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5665" r:id="rId3"/>
    <p:sldId id="5668" r:id="rId4"/>
    <p:sldId id="5669" r:id="rId5"/>
    <p:sldId id="5670" r:id="rId6"/>
    <p:sldId id="5676" r:id="rId7"/>
    <p:sldId id="5677" r:id="rId8"/>
    <p:sldId id="5679" r:id="rId9"/>
    <p:sldId id="5671" r:id="rId10"/>
    <p:sldId id="5691" r:id="rId11"/>
    <p:sldId id="5672" r:id="rId12"/>
    <p:sldId id="5673" r:id="rId13"/>
    <p:sldId id="5667" r:id="rId14"/>
    <p:sldId id="5666" r:id="rId15"/>
    <p:sldId id="5631" r:id="rId16"/>
    <p:sldId id="5625" r:id="rId17"/>
    <p:sldId id="5688" r:id="rId18"/>
    <p:sldId id="5687" r:id="rId19"/>
    <p:sldId id="5690" r:id="rId20"/>
    <p:sldId id="5681" r:id="rId21"/>
    <p:sldId id="5689" r:id="rId22"/>
    <p:sldId id="5693" r:id="rId23"/>
    <p:sldId id="5692" r:id="rId24"/>
    <p:sldId id="5696" r:id="rId25"/>
    <p:sldId id="5697" r:id="rId26"/>
    <p:sldId id="5698" r:id="rId27"/>
    <p:sldId id="5699" r:id="rId28"/>
    <p:sldId id="5695" r:id="rId29"/>
    <p:sldId id="5694" r:id="rId30"/>
    <p:sldId id="5700" r:id="rId31"/>
    <p:sldId id="276" r:id="rId3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865471C-C2EC-4BCB-B618-E51C020AC616}">
          <p14:sldIdLst>
            <p14:sldId id="256"/>
          </p14:sldIdLst>
        </p14:section>
        <p14:section name="默认节" id="{E1A54EB5-0AE1-445D-B748-D26CF854DC79}">
          <p14:sldIdLst>
            <p14:sldId id="5665"/>
            <p14:sldId id="5668"/>
            <p14:sldId id="5669"/>
            <p14:sldId id="5670"/>
            <p14:sldId id="5676"/>
            <p14:sldId id="5677"/>
            <p14:sldId id="5679"/>
            <p14:sldId id="5671"/>
            <p14:sldId id="5691"/>
            <p14:sldId id="5672"/>
            <p14:sldId id="5673"/>
            <p14:sldId id="5667"/>
            <p14:sldId id="5666"/>
            <p14:sldId id="5631"/>
            <p14:sldId id="5625"/>
            <p14:sldId id="5688"/>
            <p14:sldId id="5687"/>
            <p14:sldId id="5690"/>
            <p14:sldId id="5681"/>
            <p14:sldId id="5689"/>
            <p14:sldId id="5693"/>
            <p14:sldId id="5692"/>
            <p14:sldId id="5696"/>
            <p14:sldId id="5697"/>
            <p14:sldId id="5698"/>
            <p14:sldId id="5699"/>
            <p14:sldId id="5695"/>
            <p14:sldId id="5694"/>
            <p14:sldId id="5700"/>
          </p14:sldIdLst>
        </p14:section>
        <p14:section name="无标题节" id="{74A62BEC-76A9-4482-A301-BB669AE3AB42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91" y="53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45DA4-CE33-7600-F8F6-53DA0CC6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A252A6-CE38-786F-B212-5966C38BB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78BFBE-4CB7-3CA3-1DF0-9B1AA0F58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4B05A-29A9-DB09-2B37-9CE6BE553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161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AB51-D523-ABB4-23FB-6C0C58CF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63F61-07D4-863E-B5C5-30196866D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4B2949-6C76-EC86-150F-E038B8449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FB0D7E-3DC8-4F5F-847D-8F97A333E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282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B8951-0757-FBBC-D441-A0831639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12528-B0A2-ED94-717B-E2B468A35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8FB039-EC81-EFD6-3248-2E824CF40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8C0FD3-B30F-068A-04B9-0775CD9F0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898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505A-1143-224C-20B1-BE9B0601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6F2D8A-6D0A-1C48-D3C1-165B03026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FDC94E-F58C-00F3-902B-6237FBB7F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64415-ACA8-765E-70FB-9698B8F67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65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9984-E456-13B3-39CB-972B8D93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5D3B18-FCAF-A45B-1C8A-EC2B13389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55D578-BEC7-2027-FB59-B10E40273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70EFD-7A0B-96CD-6A2B-D1971BD3F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775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C17E4-84F1-C16C-03F4-9FEE65ECD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D938FA-ECF2-4F46-7C73-BBE3A4593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22EE58-29D5-F8FF-01A3-39F610016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57336-3E96-4232-DE70-B71938244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739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A7BA-9CB6-ED31-4A9E-39548404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9A45A3-1A30-61C1-99B5-2199E8006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F3D815-2BBC-A02A-027A-4E1E28BA9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3AC204-0D86-15AC-D2E3-951EBBE8B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64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B05A-3927-0786-2D50-BE783A3F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BC5C61-BA1B-392F-05DF-97F054531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17051F-AEBD-BCC3-DD3B-B0ECA5F90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575449-71AF-0730-3EF6-CDA5BFDA8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057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CAB3C-6B35-CA26-6DB0-94B3B90E3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02F23E-8A00-208D-5E5C-C61F2BA5B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78F0D3-1ED5-45CD-4AC7-29F9A4A7D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7AEBBD-39BA-6621-D43F-3AF6A8E83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059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038-0DF8-50B6-C9DB-5057F2389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FA9314-F59A-F942-8C23-B695E116B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40B370-2C4F-7B2E-E228-9BB90F05B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B2F22B-D054-1201-8958-A0DB46668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820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87519-763F-3CDE-7351-30FFDF9D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62AC8A-BEB8-A2CA-616D-44843595F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A830EF-EC5A-30EC-E3E1-96EAE6CBB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042AA-6548-2C4D-2B5B-4AFA8494B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306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CE8F5-D1F7-69EE-758A-AD3C411E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269481-3F68-C933-0693-394F5A329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07F29D-3D75-7F22-98D7-56D22BD59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E77527-840F-F3CB-103F-63E11843B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67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B004A-E3CA-E2D5-045E-E49A2370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9E46E3-39F9-7508-BDE9-59A878AF2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BA7E6C-1C52-A36F-4AB2-00C98B4C8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282600-0019-9E03-398C-FD4C3CE6F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8F4C2-56E2-4F7B-BF02-B3C86352787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133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E37C6-BC7F-4367-A29A-E532E6827375}" type="slidenum">
              <a:rPr lang="en-US" altLang="zh-CN" smtClean="0"/>
              <a:pPr/>
              <a:t>‹#›</a:t>
            </a:fld>
            <a:fld id="{204585CA-15FE-4DAB-934C-2330BBECF4D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A181F6-6172-A544-0465-6CC977038E9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altLang="zh-CN"/>
              <a:t>www.themegallery.com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87963F-2658-CE11-89F0-92B4E52E0AC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89099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4753" y="1624853"/>
            <a:ext cx="10354814" cy="9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dirty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强化信息科技课程，探索</a:t>
            </a:r>
            <a:r>
              <a:rPr lang="en-US" altLang="zh-CN" sz="4800" dirty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AI</a:t>
            </a:r>
            <a:r>
              <a:rPr lang="zh-CN" altLang="en-US" sz="4800" dirty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赋能之路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81083" y="3671158"/>
            <a:ext cx="7171764" cy="204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樊  磊</a:t>
            </a:r>
            <a:endParaRPr lang="en-US" altLang="zh-CN" sz="28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首都师范大学    教育学院</a:t>
            </a:r>
            <a:endParaRPr lang="en-US" altLang="zh-CN" sz="2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人民教育出版社    信息科技编辑室</a:t>
            </a:r>
            <a:endParaRPr lang="en-US" altLang="zh-CN" sz="2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首都师范大学科德学院    智能科学与技术学院</a:t>
            </a:r>
            <a:endParaRPr lang="en-US" altLang="zh-CN" sz="2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393E-0005-4A86-689F-39BD5EEB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A9739954-C57F-19E3-CAB0-6725E5AF0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FA2B319-32AD-A013-9977-52153EF1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9867D5-FA60-84BD-84C8-71953CEA9082}"/>
              </a:ext>
            </a:extLst>
          </p:cNvPr>
          <p:cNvSpPr txBox="1"/>
          <p:nvPr/>
        </p:nvSpPr>
        <p:spPr>
          <a:xfrm>
            <a:off x="480103" y="1022304"/>
            <a:ext cx="11035148" cy="5036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200"/>
              </a:spcAft>
            </a:pPr>
            <a:r>
              <a:rPr lang="en-US" altLang="zh-CN" sz="3200" dirty="0"/>
              <a:t>《</a:t>
            </a:r>
            <a:r>
              <a:rPr lang="zh-CN" altLang="en-US" sz="3200" dirty="0"/>
              <a:t>教育强国建设规划纲要（</a:t>
            </a:r>
            <a:r>
              <a:rPr lang="en-US" altLang="zh-CN" sz="3200" dirty="0"/>
              <a:t>2024—2035</a:t>
            </a:r>
            <a:r>
              <a:rPr lang="zh-CN" altLang="en-US" sz="3200" dirty="0"/>
              <a:t>年）</a:t>
            </a:r>
            <a:r>
              <a:rPr lang="en-US" altLang="zh-CN" sz="3200" dirty="0"/>
              <a:t>》</a:t>
            </a:r>
            <a:r>
              <a:rPr lang="zh-CN" altLang="en-US" sz="2800" dirty="0"/>
              <a:t>（</a:t>
            </a:r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1</a:t>
            </a:r>
            <a:r>
              <a:rPr lang="zh-CN" altLang="en-US" sz="2800" dirty="0"/>
              <a:t>月）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800" dirty="0"/>
              <a:t>建设学习型社会，以教育数字化开辟发展新赛道、塑造发展新优势。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800" dirty="0"/>
              <a:t>提升终身学习公共服务水平，实施国家教育数字化战略，促进人工智能助力教育变革。</a:t>
            </a:r>
            <a:endParaRPr lang="en-US" altLang="zh-CN" sz="2800" dirty="0"/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800" dirty="0"/>
              <a:t>实施基础学科和交叉学科突破计划，促进青年科技人才成长发展，提高高校科技成果转化效能，建设高等研究院开辟振兴区域发展新赛道。</a:t>
            </a:r>
            <a:endParaRPr lang="en-US" altLang="zh-CN" sz="2800" dirty="0"/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800" dirty="0"/>
              <a:t>打造培根铸魂、启智增慧的高质量教材。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25784A-76FB-9A8F-117E-8568210297FF}"/>
              </a:ext>
            </a:extLst>
          </p:cNvPr>
          <p:cNvSpPr/>
          <p:nvPr/>
        </p:nvSpPr>
        <p:spPr>
          <a:xfrm>
            <a:off x="578426" y="275002"/>
            <a:ext cx="67367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年以来重要政策文件</a:t>
            </a:r>
          </a:p>
        </p:txBody>
      </p:sp>
    </p:spTree>
    <p:extLst>
      <p:ext uri="{BB962C8B-B14F-4D97-AF65-F5344CB8AC3E}">
        <p14:creationId xmlns:p14="http://schemas.microsoft.com/office/powerpoint/2010/main" val="287268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C1589-2A87-5E4A-488D-124BE8E43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4F180DB5-4BEA-B2A5-AF2A-7F508A3F8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B769053-9B5C-0FC5-38F3-19AA1EDA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3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8A5498-3A9C-FDBD-7E35-F8BF6ABA842A}"/>
              </a:ext>
            </a:extLst>
          </p:cNvPr>
          <p:cNvSpPr txBox="1"/>
          <p:nvPr/>
        </p:nvSpPr>
        <p:spPr>
          <a:xfrm>
            <a:off x="407368" y="921504"/>
            <a:ext cx="11377264" cy="521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200"/>
              </a:spcAft>
            </a:pPr>
            <a:r>
              <a:rPr lang="en-US" altLang="zh-CN" sz="2800" dirty="0"/>
              <a:t>《</a:t>
            </a:r>
            <a:r>
              <a:rPr lang="zh-CN" altLang="en-US" sz="2800" dirty="0"/>
              <a:t>教育部等九部门关于加快推进教育数字化的意见</a:t>
            </a:r>
            <a:r>
              <a:rPr lang="en-US" altLang="zh-CN" sz="2800" dirty="0"/>
              <a:t>》</a:t>
            </a:r>
            <a:r>
              <a:rPr lang="zh-CN" altLang="en-US" sz="2400" dirty="0"/>
              <a:t>（</a:t>
            </a:r>
            <a:r>
              <a:rPr lang="en-US" altLang="zh-CN" sz="2400" dirty="0"/>
              <a:t>2025</a:t>
            </a:r>
            <a:r>
              <a:rPr lang="zh-CN" altLang="en-US" sz="2400" dirty="0"/>
              <a:t>年</a:t>
            </a:r>
            <a:r>
              <a:rPr lang="en-US" altLang="zh-CN" sz="2400" dirty="0"/>
              <a:t>4</a:t>
            </a:r>
            <a:r>
              <a:rPr lang="zh-CN" altLang="en-US" sz="2400" dirty="0"/>
              <a:t>月）</a:t>
            </a:r>
            <a:endParaRPr lang="en-US" altLang="zh-CN" sz="2400" dirty="0"/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提出“全面推进智能化，促进人工智能助力教育变革”，加快建设自主可控的人工智能教育大模型，完善教育领域多模态语料库，构建高质量自主可控数据集，强化算法安全评估，确保正确价值导向。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推动思政、科学教育、美育、心理健康等领域及数学、物理等基础学科专题大模型垂直应用，培育“人工智能</a:t>
            </a:r>
            <a:r>
              <a:rPr lang="en-US" altLang="zh-CN" sz="2400" dirty="0"/>
              <a:t>+</a:t>
            </a:r>
            <a:r>
              <a:rPr lang="zh-CN" altLang="en-US" sz="2400" dirty="0"/>
              <a:t>教育”应用生态，探索“人工智能</a:t>
            </a:r>
            <a:r>
              <a:rPr lang="en-US" altLang="zh-CN" sz="2400" dirty="0"/>
              <a:t>+</a:t>
            </a:r>
            <a:r>
              <a:rPr lang="zh-CN" altLang="en-US" sz="2400" dirty="0"/>
              <a:t>教育”应用场景新范式。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推动课程、教材、教学数字化变革，将人工智能技术融入教育教学全要素全过程，完善知识图谱、构建能力图谱，深化教育大模型应用，推动课程体系、教材体系、教学体系智能化升级。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307374-200E-D08D-2A3F-B2A85D755CF5}"/>
              </a:ext>
            </a:extLst>
          </p:cNvPr>
          <p:cNvSpPr/>
          <p:nvPr/>
        </p:nvSpPr>
        <p:spPr>
          <a:xfrm>
            <a:off x="578426" y="275002"/>
            <a:ext cx="67367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年以来重要政策文件</a:t>
            </a:r>
          </a:p>
        </p:txBody>
      </p:sp>
    </p:spTree>
    <p:extLst>
      <p:ext uri="{BB962C8B-B14F-4D97-AF65-F5344CB8AC3E}">
        <p14:creationId xmlns:p14="http://schemas.microsoft.com/office/powerpoint/2010/main" val="259877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6C141-9A52-1F35-5104-5778E8B0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75620A21-03D4-9547-D82B-EB8A51160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003876-F12B-7598-586A-731DE515F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4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E23DE2-FF94-05F9-084D-717A3C27E21B}"/>
              </a:ext>
            </a:extLst>
          </p:cNvPr>
          <p:cNvSpPr txBox="1"/>
          <p:nvPr/>
        </p:nvSpPr>
        <p:spPr>
          <a:xfrm>
            <a:off x="522505" y="1386492"/>
            <a:ext cx="11035148" cy="450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 startAt="4"/>
            </a:pPr>
            <a:r>
              <a:rPr lang="zh-CN" altLang="en-US" sz="2400" dirty="0"/>
              <a:t>统筹推进大中小学人工智能教育一体化，建设“通用</a:t>
            </a:r>
            <a:r>
              <a:rPr lang="en-US" altLang="zh-CN" sz="2400" dirty="0"/>
              <a:t>+</a:t>
            </a:r>
            <a:r>
              <a:rPr lang="zh-CN" altLang="en-US" sz="2400" dirty="0"/>
              <a:t>特色”高校人工智能通识课程，开好中小学信息科技相关课程，鼓励开设人工智能特色课程；优化职业教育专业设置，赋能产教深度融合，服务高技能人才培养。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 startAt="4"/>
            </a:pPr>
            <a:r>
              <a:rPr lang="zh-CN" altLang="en-US" sz="2400" dirty="0"/>
              <a:t>以师生为重点提升全民数字素养与技能，制定完善师生数字素养标准和人工智能应用指引，建立大中小学衔接的数字素养培育体系，将数字素养纳入综合素质评价；深化人工智能助推教师队伍建设行动，建立教师轮训制度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 startAt="4"/>
            </a:pPr>
            <a:r>
              <a:rPr lang="zh-CN" altLang="en-US" sz="2400" dirty="0"/>
              <a:t>赋能教育评价改革与教育治理，建立基于大数据和人工智能支持的教育评价机制，开展多维度的过程评价、增值评价和综合评价；加快建设“教育数字地图”，支持教育决策、趋势预测和风险预警。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069856-AA54-8AE4-C3B0-DF57234B985A}"/>
              </a:ext>
            </a:extLst>
          </p:cNvPr>
          <p:cNvSpPr/>
          <p:nvPr/>
        </p:nvSpPr>
        <p:spPr>
          <a:xfrm>
            <a:off x="578426" y="275002"/>
            <a:ext cx="67367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年以来重要政策文件</a:t>
            </a:r>
          </a:p>
        </p:txBody>
      </p:sp>
    </p:spTree>
    <p:extLst>
      <p:ext uri="{BB962C8B-B14F-4D97-AF65-F5344CB8AC3E}">
        <p14:creationId xmlns:p14="http://schemas.microsoft.com/office/powerpoint/2010/main" val="323398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25969-3C25-6874-2FA8-751EF4F7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5BF192D4-6949-88B8-32B7-685BF7EF3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7ABE19-1A80-E76E-59DB-3D33943B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5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A172E1-8D3C-6653-13A7-09B115ED361D}"/>
              </a:ext>
            </a:extLst>
          </p:cNvPr>
          <p:cNvSpPr txBox="1"/>
          <p:nvPr/>
        </p:nvSpPr>
        <p:spPr>
          <a:xfrm>
            <a:off x="578426" y="1291203"/>
            <a:ext cx="11035148" cy="427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200"/>
              </a:spcAft>
            </a:pPr>
            <a:r>
              <a:rPr lang="en-US" altLang="zh-CN" sz="2800" dirty="0"/>
              <a:t>《</a:t>
            </a:r>
            <a:r>
              <a:rPr lang="zh-CN" altLang="en-US" sz="2800" dirty="0"/>
              <a:t>国务院关于深入实施“人工智能</a:t>
            </a:r>
            <a:r>
              <a:rPr lang="en-US" altLang="zh-CN" sz="2800" dirty="0"/>
              <a:t>+”</a:t>
            </a:r>
            <a:r>
              <a:rPr lang="zh-CN" altLang="en-US" sz="2800" dirty="0"/>
              <a:t>行动的意见</a:t>
            </a:r>
            <a:r>
              <a:rPr lang="en-US" altLang="zh-CN" sz="2800" dirty="0"/>
              <a:t>》</a:t>
            </a:r>
            <a:r>
              <a:rPr lang="zh-CN" altLang="en-US" sz="2400" dirty="0"/>
              <a:t>（</a:t>
            </a:r>
            <a:r>
              <a:rPr lang="en-US" altLang="zh-CN" sz="2400" dirty="0"/>
              <a:t>2025</a:t>
            </a:r>
            <a:r>
              <a:rPr lang="zh-CN" altLang="en-US" sz="2400" dirty="0"/>
              <a:t>年</a:t>
            </a:r>
            <a:r>
              <a:rPr lang="en-US" altLang="zh-CN" sz="2400" dirty="0"/>
              <a:t>8</a:t>
            </a:r>
            <a:r>
              <a:rPr lang="zh-CN" altLang="en-US" sz="2400" dirty="0"/>
              <a:t>月）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将“人工智能</a:t>
            </a:r>
            <a:r>
              <a:rPr lang="en-US" altLang="zh-CN" sz="2400" dirty="0"/>
              <a:t>+</a:t>
            </a:r>
            <a:r>
              <a:rPr lang="zh-CN" altLang="en-US" sz="2400" dirty="0"/>
              <a:t>教育”列为国家“人工智能</a:t>
            </a:r>
            <a:r>
              <a:rPr lang="en-US" altLang="zh-CN" sz="2400" dirty="0"/>
              <a:t>+”</a:t>
            </a:r>
            <a:r>
              <a:rPr lang="zh-CN" altLang="en-US" sz="2400" dirty="0"/>
              <a:t>重点行动领域，明确教育全流程智能化、普惠化发展方向。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构建普惠、公平、优质的智能教育体系，推动人工智能在教育教学、管理、评价、教研等全链条深度应用，支撑教育优质均衡发展，服务人才强国战略和创新驱动发展战略。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引导企业、科研机构与教育机构协同发力，开发适配教育场景的人工智能产品和服务，推广人工智能教育应用试点经验，培育“人工智能</a:t>
            </a:r>
            <a:r>
              <a:rPr lang="en-US" altLang="zh-CN" sz="2400" dirty="0"/>
              <a:t>+</a:t>
            </a:r>
            <a:r>
              <a:rPr lang="zh-CN" altLang="en-US" sz="2400" dirty="0"/>
              <a:t>教育”创新生态。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A64CBC-940E-8DBB-25B1-4DC30F903531}"/>
              </a:ext>
            </a:extLst>
          </p:cNvPr>
          <p:cNvSpPr/>
          <p:nvPr/>
        </p:nvSpPr>
        <p:spPr>
          <a:xfrm>
            <a:off x="578426" y="275002"/>
            <a:ext cx="67367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年以来重要政策文件</a:t>
            </a:r>
          </a:p>
        </p:txBody>
      </p:sp>
    </p:spTree>
    <p:extLst>
      <p:ext uri="{BB962C8B-B14F-4D97-AF65-F5344CB8AC3E}">
        <p14:creationId xmlns:p14="http://schemas.microsoft.com/office/powerpoint/2010/main" val="217516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214DF-0606-FA45-53C4-CC8ABDED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2772C8E6-294A-C7A5-2F6A-D05C267E8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6A5B0D-9B98-16C6-783B-A354F47A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6</a:t>
            </a:fld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4E648C-D619-B427-7A40-8A65A863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39" y="1756920"/>
            <a:ext cx="5447161" cy="42532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4E310E-AF46-3CB9-228E-F6E2FD3E4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52919"/>
            <a:ext cx="5689516" cy="380486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DB3F8DD-D1DF-09EA-0968-A4F2605DA511}"/>
              </a:ext>
            </a:extLst>
          </p:cNvPr>
          <p:cNvSpPr/>
          <p:nvPr/>
        </p:nvSpPr>
        <p:spPr>
          <a:xfrm>
            <a:off x="578426" y="275002"/>
            <a:ext cx="67367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年以来重要政策文件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1932C7-1416-B75B-7AA7-11EA0A61E21B}"/>
              </a:ext>
            </a:extLst>
          </p:cNvPr>
          <p:cNvSpPr txBox="1"/>
          <p:nvPr/>
        </p:nvSpPr>
        <p:spPr>
          <a:xfrm>
            <a:off x="371364" y="1109598"/>
            <a:ext cx="10466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教育部等五部门</a:t>
            </a:r>
            <a:r>
              <a:rPr lang="en-US" altLang="zh-CN" sz="2800" dirty="0"/>
              <a:t>《</a:t>
            </a:r>
            <a:r>
              <a:rPr lang="zh-CN" altLang="en-US" sz="2800" dirty="0"/>
              <a:t>“人工智能 </a:t>
            </a:r>
            <a:r>
              <a:rPr lang="en-US" altLang="zh-CN" sz="2800" dirty="0"/>
              <a:t>+ </a:t>
            </a:r>
            <a:r>
              <a:rPr lang="zh-CN" altLang="en-US" sz="2800" dirty="0"/>
              <a:t>教育</a:t>
            </a:r>
            <a:r>
              <a:rPr lang="en-US" altLang="zh-CN" sz="2800" dirty="0"/>
              <a:t>”</a:t>
            </a:r>
            <a:r>
              <a:rPr lang="zh-CN" altLang="en-US" sz="2800" dirty="0"/>
              <a:t>行动计划</a:t>
            </a:r>
            <a:r>
              <a:rPr lang="en-US" altLang="zh-CN" sz="2800" dirty="0"/>
              <a:t>》</a:t>
            </a:r>
            <a:r>
              <a:rPr lang="zh-CN" altLang="en-US" sz="2800" dirty="0"/>
              <a:t>（</a:t>
            </a:r>
            <a:r>
              <a:rPr lang="en-US" altLang="zh-CN" sz="2800" dirty="0"/>
              <a:t>2026</a:t>
            </a:r>
            <a:r>
              <a:rPr lang="zh-CN" altLang="en-US" sz="2800" dirty="0"/>
              <a:t>年</a:t>
            </a:r>
            <a:r>
              <a:rPr lang="en-US" altLang="zh-CN" sz="2800" dirty="0"/>
              <a:t>4</a:t>
            </a:r>
            <a:r>
              <a:rPr lang="zh-CN" altLang="en-US" sz="2800" dirty="0"/>
              <a:t>月）</a:t>
            </a:r>
          </a:p>
        </p:txBody>
      </p:sp>
    </p:spTree>
    <p:extLst>
      <p:ext uri="{BB962C8B-B14F-4D97-AF65-F5344CB8AC3E}">
        <p14:creationId xmlns:p14="http://schemas.microsoft.com/office/powerpoint/2010/main" val="4711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0462-B5AC-CFA8-17D0-AD152F80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C5D82912-C457-2557-3277-4459A133D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0BA6FB-7278-B7BE-C5A2-5CF706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7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CED61-3E20-C872-BE4C-9407FB4C7D13}"/>
              </a:ext>
            </a:extLst>
          </p:cNvPr>
          <p:cNvSpPr txBox="1"/>
          <p:nvPr/>
        </p:nvSpPr>
        <p:spPr>
          <a:xfrm>
            <a:off x="371364" y="1768747"/>
            <a:ext cx="11449272" cy="404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力推进人工智能全学段教育和全社会的通识教育，基础教育注重素养培育，高等教育强化学科交叉，职业教育突出技能提升，终身教育侧重知识普及，助力全体学生和社会学习者掌握人工智能，全面提升教师智能素养，激发教师应用和创新的内生驱动力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推动人工智能深度融入教育教学，全面赋能学校教育、终身教育、科技创新、国际交流、教师发展和教育治理。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基础教育阶段，确保开齐开足开好人工智能课程，着力激发学生好奇心，培养创新思维，提高解决复杂问题的能力。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A5B96-0BEF-DF05-F8B0-1B8AC21894AA}"/>
              </a:ext>
            </a:extLst>
          </p:cNvPr>
          <p:cNvSpPr/>
          <p:nvPr/>
        </p:nvSpPr>
        <p:spPr>
          <a:xfrm>
            <a:off x="578426" y="275002"/>
            <a:ext cx="67367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年以来重要政策文件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3BCBD6-6731-73B9-F0AF-46319283E2E4}"/>
              </a:ext>
            </a:extLst>
          </p:cNvPr>
          <p:cNvSpPr txBox="1"/>
          <p:nvPr/>
        </p:nvSpPr>
        <p:spPr>
          <a:xfrm>
            <a:off x="371364" y="1109598"/>
            <a:ext cx="10466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教育部等五部门</a:t>
            </a:r>
            <a:r>
              <a:rPr lang="en-US" altLang="zh-CN" sz="2800" dirty="0"/>
              <a:t>《</a:t>
            </a:r>
            <a:r>
              <a:rPr lang="zh-CN" altLang="en-US" sz="2800" dirty="0"/>
              <a:t>“人工智能 </a:t>
            </a:r>
            <a:r>
              <a:rPr lang="en-US" altLang="zh-CN" sz="2800" dirty="0"/>
              <a:t>+ </a:t>
            </a:r>
            <a:r>
              <a:rPr lang="zh-CN" altLang="en-US" sz="2800" dirty="0"/>
              <a:t>教育</a:t>
            </a:r>
            <a:r>
              <a:rPr lang="en-US" altLang="zh-CN" sz="2800" dirty="0"/>
              <a:t>”</a:t>
            </a:r>
            <a:r>
              <a:rPr lang="zh-CN" altLang="en-US" sz="2800" dirty="0"/>
              <a:t>行动计划</a:t>
            </a:r>
            <a:r>
              <a:rPr lang="en-US" altLang="zh-CN" sz="2800" dirty="0"/>
              <a:t>》</a:t>
            </a:r>
            <a:r>
              <a:rPr lang="zh-CN" altLang="en-US" sz="2800" dirty="0"/>
              <a:t>（</a:t>
            </a:r>
            <a:r>
              <a:rPr lang="en-US" altLang="zh-CN" sz="2800" dirty="0"/>
              <a:t>2026</a:t>
            </a:r>
            <a:r>
              <a:rPr lang="zh-CN" altLang="en-US" sz="2800" dirty="0"/>
              <a:t>年</a:t>
            </a:r>
            <a:r>
              <a:rPr lang="en-US" altLang="zh-CN" sz="2800" dirty="0"/>
              <a:t>4</a:t>
            </a:r>
            <a:r>
              <a:rPr lang="zh-CN" altLang="en-US" sz="2800" dirty="0"/>
              <a:t>月）</a:t>
            </a:r>
          </a:p>
        </p:txBody>
      </p:sp>
    </p:spTree>
    <p:extLst>
      <p:ext uri="{BB962C8B-B14F-4D97-AF65-F5344CB8AC3E}">
        <p14:creationId xmlns:p14="http://schemas.microsoft.com/office/powerpoint/2010/main" val="377815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CF86-405F-4C22-9453-797EC36DC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1005CCF9-9D59-BCD3-7566-71D9CF2EB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7630CC-0B2F-4817-A6A7-C6E821CB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8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FE2054-E299-E41C-A6CB-CA22CDC3A4EA}"/>
              </a:ext>
            </a:extLst>
          </p:cNvPr>
          <p:cNvSpPr txBox="1"/>
          <p:nvPr/>
        </p:nvSpPr>
        <p:spPr>
          <a:xfrm>
            <a:off x="308611" y="1755296"/>
            <a:ext cx="11449272" cy="420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提高广大教师的智能素养与技能。制定教师智能素养标准，明确教师应具备的人工智能素养能力。根据不同岗位需求分层分类开展人工智能素养培训，通过多种方式实现全覆盖。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构建情境化测评系统，开发智能化、梯度化的测评工具，鼓励各地各校开展规模化的教师素养测评，根据测评结果针对性地提升教师素养和能力。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推动师范生培养改革，将人工智能等前沿技术知识纳入课程体系，更新知识体系。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将人工智能纳入教师资格考试和认证内容，在国家及省级教学成果奖中设立智能教育项目，激发人工智能创新的内生动力。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AF7CD0-D1E2-CA5A-ED2C-2DF2EE86EC23}"/>
              </a:ext>
            </a:extLst>
          </p:cNvPr>
          <p:cNvSpPr/>
          <p:nvPr/>
        </p:nvSpPr>
        <p:spPr>
          <a:xfrm>
            <a:off x="578426" y="275002"/>
            <a:ext cx="67367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年以来重要政策文件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431990-E45F-2C55-52C7-DA313A236720}"/>
              </a:ext>
            </a:extLst>
          </p:cNvPr>
          <p:cNvSpPr txBox="1"/>
          <p:nvPr/>
        </p:nvSpPr>
        <p:spPr>
          <a:xfrm>
            <a:off x="371364" y="1109598"/>
            <a:ext cx="10466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教育部等五部门</a:t>
            </a:r>
            <a:r>
              <a:rPr lang="en-US" altLang="zh-CN" sz="2800" dirty="0"/>
              <a:t>《</a:t>
            </a:r>
            <a:r>
              <a:rPr lang="zh-CN" altLang="en-US" sz="2800" dirty="0"/>
              <a:t>“人工智能 </a:t>
            </a:r>
            <a:r>
              <a:rPr lang="en-US" altLang="zh-CN" sz="2800" dirty="0"/>
              <a:t>+ </a:t>
            </a:r>
            <a:r>
              <a:rPr lang="zh-CN" altLang="en-US" sz="2800" dirty="0"/>
              <a:t>教育</a:t>
            </a:r>
            <a:r>
              <a:rPr lang="en-US" altLang="zh-CN" sz="2800" dirty="0"/>
              <a:t>”</a:t>
            </a:r>
            <a:r>
              <a:rPr lang="zh-CN" altLang="en-US" sz="2800" dirty="0"/>
              <a:t>行动计划</a:t>
            </a:r>
            <a:r>
              <a:rPr lang="en-US" altLang="zh-CN" sz="2800" dirty="0"/>
              <a:t>》</a:t>
            </a:r>
            <a:r>
              <a:rPr lang="zh-CN" altLang="en-US" sz="2800" dirty="0"/>
              <a:t>（</a:t>
            </a:r>
            <a:r>
              <a:rPr lang="en-US" altLang="zh-CN" sz="2800" dirty="0"/>
              <a:t>2026</a:t>
            </a:r>
            <a:r>
              <a:rPr lang="zh-CN" altLang="en-US" sz="2800" dirty="0"/>
              <a:t>年</a:t>
            </a:r>
            <a:r>
              <a:rPr lang="en-US" altLang="zh-CN" sz="2800" dirty="0"/>
              <a:t>4</a:t>
            </a:r>
            <a:r>
              <a:rPr lang="zh-CN" altLang="en-US" sz="2800" dirty="0"/>
              <a:t>月）</a:t>
            </a:r>
          </a:p>
        </p:txBody>
      </p:sp>
    </p:spTree>
    <p:extLst>
      <p:ext uri="{BB962C8B-B14F-4D97-AF65-F5344CB8AC3E}">
        <p14:creationId xmlns:p14="http://schemas.microsoft.com/office/powerpoint/2010/main" val="233678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1C64F-77A7-479A-9D03-F9B0C54F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E1ADCA21-D2C3-D399-EE48-D4AE69450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7B8BDC-9849-95F5-F080-334D10BA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9</a:t>
            </a:fld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87C41F-7B3D-F5BF-F29A-78E26609CF7D}"/>
              </a:ext>
            </a:extLst>
          </p:cNvPr>
          <p:cNvSpPr/>
          <p:nvPr/>
        </p:nvSpPr>
        <p:spPr>
          <a:xfrm>
            <a:off x="407368" y="295538"/>
            <a:ext cx="714671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年以来有关政策文件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2056B1-7174-28CE-F482-A498E9EB4BE6}"/>
              </a:ext>
            </a:extLst>
          </p:cNvPr>
          <p:cNvSpPr txBox="1"/>
          <p:nvPr/>
        </p:nvSpPr>
        <p:spPr>
          <a:xfrm>
            <a:off x="259658" y="1368147"/>
            <a:ext cx="11499722" cy="412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200"/>
              </a:spcAft>
            </a:pPr>
            <a:r>
              <a:rPr lang="en-US" altLang="zh-CN" sz="2800" dirty="0"/>
              <a:t>《</a:t>
            </a:r>
            <a:r>
              <a:rPr lang="zh-CN" altLang="en-US" sz="2800" dirty="0"/>
              <a:t>中小学人工智能通识教育指南（</a:t>
            </a:r>
            <a:r>
              <a:rPr lang="en-US" altLang="zh-CN" sz="2800" dirty="0"/>
              <a:t>2025</a:t>
            </a:r>
            <a:r>
              <a:rPr lang="zh-CN" altLang="en-US" sz="2800" dirty="0"/>
              <a:t>年版）</a:t>
            </a:r>
            <a:r>
              <a:rPr lang="en-US" altLang="zh-CN" sz="2800" dirty="0"/>
              <a:t>》</a:t>
            </a:r>
            <a:r>
              <a:rPr lang="zh-CN" altLang="en-US" sz="2800" dirty="0"/>
              <a:t>（教指委，</a:t>
            </a:r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5</a:t>
            </a:r>
            <a:r>
              <a:rPr lang="zh-CN" altLang="en-US" sz="2800" dirty="0"/>
              <a:t>月）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构建纵向贯通、横向融合的中小学人工智能通识教育体系，以素养培育为核心，通过螺旋式课程设计实现从认知启蒙到创新实践的素养发展，明确各学段教学目标、内容、实施路径与评价标准，推动人工智能教育从兴趣课向必修课升级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分学段明确教学重点：小学阶段侧重兴趣启蒙、基础认知，培养学生对人工智能的好奇心和初步感知能力；初中阶段侧重技术原理、基础应用，引导学生理解人工智能基本概念和简单应用方法；高中阶段侧重系统思维、创新实践与伦理思辨，鼓励学生开展人工智能相关项目创作和前沿探索。</a:t>
            </a:r>
          </a:p>
        </p:txBody>
      </p:sp>
    </p:spTree>
    <p:extLst>
      <p:ext uri="{BB962C8B-B14F-4D97-AF65-F5344CB8AC3E}">
        <p14:creationId xmlns:p14="http://schemas.microsoft.com/office/powerpoint/2010/main" val="77292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CE2BE-EDD2-5710-C08F-04DE6774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D0CB7BAE-F7AD-4963-5FAE-1E490C7A4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AE62E48-DE63-2A8E-62E0-6123EFA4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10</a:t>
            </a:fld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B1C770-D41D-125A-DBB3-5D701A8013B8}"/>
              </a:ext>
            </a:extLst>
          </p:cNvPr>
          <p:cNvSpPr/>
          <p:nvPr/>
        </p:nvSpPr>
        <p:spPr>
          <a:xfrm>
            <a:off x="407368" y="295538"/>
            <a:ext cx="714671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年以来有关政策文件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3F7366-4C26-2B7E-6FB1-64B599218536}"/>
              </a:ext>
            </a:extLst>
          </p:cNvPr>
          <p:cNvSpPr txBox="1"/>
          <p:nvPr/>
        </p:nvSpPr>
        <p:spPr>
          <a:xfrm>
            <a:off x="171394" y="1448011"/>
            <a:ext cx="11686310" cy="3660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200"/>
              </a:spcAft>
            </a:pPr>
            <a:r>
              <a:rPr lang="en-US" altLang="zh-CN" sz="2800" dirty="0"/>
              <a:t>《</a:t>
            </a:r>
            <a:r>
              <a:rPr lang="zh-CN" altLang="en-US" sz="2800" dirty="0"/>
              <a:t>中小学人工智能通识教育指南（</a:t>
            </a:r>
            <a:r>
              <a:rPr lang="en-US" altLang="zh-CN" sz="2800" dirty="0"/>
              <a:t>2025</a:t>
            </a:r>
            <a:r>
              <a:rPr lang="zh-CN" altLang="en-US" sz="2800" dirty="0"/>
              <a:t>年版）</a:t>
            </a:r>
            <a:r>
              <a:rPr lang="en-US" altLang="zh-CN" sz="2800" dirty="0"/>
              <a:t>》</a:t>
            </a:r>
            <a:r>
              <a:rPr lang="zh-CN" altLang="en-US" sz="2800" dirty="0"/>
              <a:t>（教指委，</a:t>
            </a:r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5</a:t>
            </a:r>
            <a:r>
              <a:rPr lang="zh-CN" altLang="en-US" sz="2800" dirty="0"/>
              <a:t>月）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强调“课程重构、资源融通、评价创新、师资赋能”联动机制，依托国家中小学智慧教育平台，整合优质人工智能教育资源，推动高校、科研院所、企业资源向中小学开放；将人工智能通识教育纳入学校办学水平评估和教师考核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推动人工智能与中小学各学科深度融合，鼓励学校结合区域特色、办学优势，开发人工智能特色校本课程，开展人工智能综合实践活动，培养学生创新思维和实践能力。</a:t>
            </a:r>
          </a:p>
        </p:txBody>
      </p:sp>
    </p:spTree>
    <p:extLst>
      <p:ext uri="{BB962C8B-B14F-4D97-AF65-F5344CB8AC3E}">
        <p14:creationId xmlns:p14="http://schemas.microsoft.com/office/powerpoint/2010/main" val="145594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0E66D-9FC4-C05B-CD7D-DD454EA0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A6A07DF2-CC1D-AB45-26DD-B4260ED7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17838C4-906C-8FD8-207C-F52E7B972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11</a:t>
            </a:fld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0224F7-F000-6DE1-15CD-6B0CB9D76A5F}"/>
              </a:ext>
            </a:extLst>
          </p:cNvPr>
          <p:cNvSpPr/>
          <p:nvPr/>
        </p:nvSpPr>
        <p:spPr>
          <a:xfrm>
            <a:off x="436865" y="281260"/>
            <a:ext cx="714671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年以来有关政策文件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FCC763-EFB8-BF81-1125-532517AFA91E}"/>
              </a:ext>
            </a:extLst>
          </p:cNvPr>
          <p:cNvSpPr txBox="1"/>
          <p:nvPr/>
        </p:nvSpPr>
        <p:spPr>
          <a:xfrm>
            <a:off x="436865" y="1262109"/>
            <a:ext cx="11161240" cy="4604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200"/>
              </a:spcAft>
            </a:pPr>
            <a:r>
              <a:rPr lang="en-US" altLang="zh-CN" sz="2400" dirty="0"/>
              <a:t>《</a:t>
            </a:r>
            <a:r>
              <a:rPr lang="zh-CN" altLang="en-US" sz="2400" dirty="0"/>
              <a:t>中小学生成式人工智能使用指南（</a:t>
            </a:r>
            <a:r>
              <a:rPr lang="en-US" altLang="zh-CN" sz="2400" dirty="0"/>
              <a:t>2025</a:t>
            </a:r>
            <a:r>
              <a:rPr lang="zh-CN" altLang="en-US" sz="2400" dirty="0"/>
              <a:t>年版）</a:t>
            </a:r>
            <a:r>
              <a:rPr lang="en-US" altLang="zh-CN" sz="2400" dirty="0"/>
              <a:t>》</a:t>
            </a:r>
            <a:r>
              <a:rPr lang="zh-CN" altLang="en-US" sz="2400" dirty="0"/>
              <a:t>（教指委，</a:t>
            </a:r>
            <a:r>
              <a:rPr lang="en-US" altLang="zh-CN" sz="2400" dirty="0"/>
              <a:t>2025</a:t>
            </a:r>
            <a:r>
              <a:rPr lang="zh-CN" altLang="en-US" sz="2400" dirty="0"/>
              <a:t>年</a:t>
            </a:r>
            <a:r>
              <a:rPr lang="en-US" altLang="zh-CN" sz="2400" dirty="0"/>
              <a:t>5</a:t>
            </a:r>
            <a:r>
              <a:rPr lang="zh-CN" altLang="en-US" sz="2400" dirty="0"/>
              <a:t>月）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/>
              <a:t>秉持“应用为王、治理为基”的理念，紧密围绕生成式人工智能在中小学教育中的应用场景，界定生成式人工智能在中小学教学、学习、评价、管理中的应用边界，明确合规使用场景与禁止行为（严禁</a:t>
            </a:r>
            <a:r>
              <a:rPr lang="en-US" altLang="zh-CN" sz="2000" dirty="0"/>
              <a:t>AI</a:t>
            </a:r>
            <a:r>
              <a:rPr lang="zh-CN" altLang="en-US" sz="2000" dirty="0"/>
              <a:t>替代学生作业、考试作答，严禁利用</a:t>
            </a:r>
            <a:r>
              <a:rPr lang="en-US" altLang="zh-CN" sz="2000" dirty="0"/>
              <a:t>AI</a:t>
            </a:r>
            <a:r>
              <a:rPr lang="zh-CN" altLang="en-US" sz="2000" dirty="0"/>
              <a:t>传播不良信息）。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/>
              <a:t>强化数据安全、伦理规范、版权保护，分学段开展人工智能素养与风险教育，引导学生科学、理性、安全使用</a:t>
            </a:r>
            <a:r>
              <a:rPr lang="en-US" altLang="zh-CN" sz="2000" dirty="0"/>
              <a:t>AI</a:t>
            </a:r>
            <a:r>
              <a:rPr lang="zh-CN" altLang="en-US" sz="2000" dirty="0"/>
              <a:t>工具，树立正确的技术应用观，防范技术滥用带来的风险。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/>
              <a:t>支持生成式人工智能在智能学伴、自适应学习、心理健康疏导、特殊教育适配等场景的正向应用，鼓励学校探索人机协同学习新模式，助力个性化学习和教育公平。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/>
              <a:t>明确学校、教师、家长在中小学生使用生成式人工智能中的职责，构建“政</a:t>
            </a:r>
            <a:r>
              <a:rPr lang="en-US" altLang="zh-CN" sz="2000" dirty="0"/>
              <a:t>-</a:t>
            </a:r>
            <a:r>
              <a:rPr lang="zh-CN" altLang="en-US" sz="2000" dirty="0"/>
              <a:t>校</a:t>
            </a:r>
            <a:r>
              <a:rPr lang="en-US" altLang="zh-CN" sz="2000" dirty="0"/>
              <a:t>-</a:t>
            </a:r>
            <a:r>
              <a:rPr lang="zh-CN" altLang="en-US" sz="2000" dirty="0"/>
              <a:t>企</a:t>
            </a:r>
            <a:r>
              <a:rPr lang="en-US" altLang="zh-CN" sz="2000" dirty="0"/>
              <a:t>-</a:t>
            </a:r>
            <a:r>
              <a:rPr lang="zh-CN" altLang="en-US" sz="2000" dirty="0"/>
              <a:t>家</a:t>
            </a:r>
            <a:r>
              <a:rPr lang="en-US" altLang="zh-CN" sz="2000" dirty="0"/>
              <a:t>-</a:t>
            </a:r>
            <a:r>
              <a:rPr lang="zh-CN" altLang="en-US" sz="2000" dirty="0"/>
              <a:t>社”多方协同的治理体系，既释放技术赋能教育的创新潜能，又筑牢教育主阵地的价值根基。</a:t>
            </a:r>
          </a:p>
        </p:txBody>
      </p:sp>
    </p:spTree>
    <p:extLst>
      <p:ext uri="{BB962C8B-B14F-4D97-AF65-F5344CB8AC3E}">
        <p14:creationId xmlns:p14="http://schemas.microsoft.com/office/powerpoint/2010/main" val="131079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D648-C93D-16DA-87F6-E4288971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C66FEEA4-FB0B-790E-0514-DF51D7454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BF56E0-2892-F8F9-E45E-061DCE213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12</a:t>
            </a:fld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6B9E8B-E0B7-89A1-3ADD-99FE012E5601}"/>
              </a:ext>
            </a:extLst>
          </p:cNvPr>
          <p:cNvSpPr/>
          <p:nvPr/>
        </p:nvSpPr>
        <p:spPr>
          <a:xfrm>
            <a:off x="454802" y="274724"/>
            <a:ext cx="714671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年以来有关政策文件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5CA2ED-CBA4-5C20-2046-445C9CC59935}"/>
              </a:ext>
            </a:extLst>
          </p:cNvPr>
          <p:cNvSpPr txBox="1"/>
          <p:nvPr/>
        </p:nvSpPr>
        <p:spPr>
          <a:xfrm>
            <a:off x="318652" y="1091644"/>
            <a:ext cx="11558716" cy="4950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200"/>
              </a:spcAf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教师生成式人工智能应用指引（第一版）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（教育部，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月）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明确教师使用生成式人工智能的合规边界、伦理规范与应用场景，立足“人机协同、以生为本”，指导教师合理利用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辅助备课、教学设计、学情分析、作业批改、教研创新等工作，提升教学效率和精准性。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严禁教师过度依赖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替代核心教学环节（如课堂讲授、个性化辅导、学情研判核心工作），强调教师在教学中的主导作用，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作为辅助工具服务于教学提质和学生成长。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将生成式人工智能应用能力纳入教师数字素养培训体系，分学段、分学科开展针对性培训，推动教师掌握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工具的使用方法，提升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与学科教学融合的创新能力；建立教师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应用能力评价机制，纳入教师评优评先参考。</a:t>
            </a:r>
          </a:p>
          <a:p>
            <a:pPr marL="457200" indent="-4572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引导教师树立正确的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伦理观，规范使用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生成内容，注重版权保护，防范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生成内容中的错误信息、不良导向，引导学生正确认识和使用生成式人工智能。</a:t>
            </a:r>
          </a:p>
        </p:txBody>
      </p:sp>
    </p:spTree>
    <p:extLst>
      <p:ext uri="{BB962C8B-B14F-4D97-AF65-F5344CB8AC3E}">
        <p14:creationId xmlns:p14="http://schemas.microsoft.com/office/powerpoint/2010/main" val="426058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B65C-23DA-72B8-DBA9-E9560119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99CDECD8-050D-BB26-7141-59C100918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AF4C6A-CD45-A047-0E6B-8153BC7F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13</a:t>
            </a:fld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0A29F5-42D5-600B-29BC-FC4E29CD5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047" y="1091644"/>
            <a:ext cx="9163906" cy="50440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756663B-A17E-5259-1F13-A1D1827F1A06}"/>
              </a:ext>
            </a:extLst>
          </p:cNvPr>
          <p:cNvSpPr/>
          <p:nvPr/>
        </p:nvSpPr>
        <p:spPr>
          <a:xfrm>
            <a:off x="183977" y="231063"/>
            <a:ext cx="9228963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高招趋势</a:t>
            </a:r>
          </a:p>
        </p:txBody>
      </p:sp>
    </p:spTree>
    <p:extLst>
      <p:ext uri="{BB962C8B-B14F-4D97-AF65-F5344CB8AC3E}">
        <p14:creationId xmlns:p14="http://schemas.microsoft.com/office/powerpoint/2010/main" val="160923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02127-5F09-8C63-0CEF-0BE18B9F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>
            <a:extLst>
              <a:ext uri="{FF2B5EF4-FFF2-40B4-BE49-F238E27FC236}">
                <a16:creationId xmlns:a16="http://schemas.microsoft.com/office/drawing/2014/main" id="{CE940DBD-BB40-4EB5-72A6-62001DBD0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9" y="7223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srgbClr val="4976D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7173F2-E8E6-890A-36E9-6031F972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14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0815A7-3B55-87DC-5AAB-B80ACD049560}"/>
              </a:ext>
            </a:extLst>
          </p:cNvPr>
          <p:cNvSpPr txBox="1"/>
          <p:nvPr/>
        </p:nvSpPr>
        <p:spPr>
          <a:xfrm>
            <a:off x="479376" y="1350023"/>
            <a:ext cx="11102063" cy="4441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进一步深化高中育人方式改革，促进新高考、新课程、新教材的协同联动。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指导中学严格落实普通高中课程方案，开齐国家规定课程，开足课时。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加强教考衔接，注重考查基础知识、基本技能、基本方法。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优化试题呈现方式和素材选取，融入科技前沿动态，浸润人文教育元素。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加强项目式、探究式的真实情境问题设计，更好考查学生关键能力、学科素养和思维品质。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推进信息技术赋能考试评价改革。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5B51EF-0785-C225-1111-D0444F8E53E5}"/>
              </a:ext>
            </a:extLst>
          </p:cNvPr>
          <p:cNvSpPr/>
          <p:nvPr/>
        </p:nvSpPr>
        <p:spPr>
          <a:xfrm>
            <a:off x="183977" y="231063"/>
            <a:ext cx="9228963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高招趋势</a:t>
            </a:r>
          </a:p>
        </p:txBody>
      </p:sp>
    </p:spTree>
    <p:extLst>
      <p:ext uri="{BB962C8B-B14F-4D97-AF65-F5344CB8AC3E}">
        <p14:creationId xmlns:p14="http://schemas.microsoft.com/office/powerpoint/2010/main" val="103271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6941-2084-B6CD-7FB3-99770C781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DD63B-189C-4432-2A74-C1439618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4F8419-45C8-6299-1E2F-70812A598A81}"/>
              </a:ext>
            </a:extLst>
          </p:cNvPr>
          <p:cNvSpPr/>
          <p:nvPr/>
        </p:nvSpPr>
        <p:spPr>
          <a:xfrm>
            <a:off x="436865" y="1104485"/>
            <a:ext cx="11161241" cy="4919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通过“跨学科主题”开展人工智能教育是最佳路径，既能体现人工智能教育“全过程、全要素、全学段”的要求，赋能在课堂上落地、变革于过程中发生。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跨学科主题”的形式可以开展各种类别的人工智能教育课程或活动，依托课标框架进行整体规划，按照课时比例设计特色内容，避免聚焦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技术或通识课本身，建构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AI4Sci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AI4Math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AI4Art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等足以影响全局的大类融合课程。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地方和学校可在融合类特色课基础上进一步细化跨学科主题和特色，演化出红色系列、自主创新系列、科技教育系列、文化自信等具有鲜明地方特色的主题。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着眼学生长久发展，改变人才评价认知，避免纠结短期效应。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E9F9FA-3300-A4F5-5912-66CCF8A75B06}"/>
              </a:ext>
            </a:extLst>
          </p:cNvPr>
          <p:cNvSpPr/>
          <p:nvPr/>
        </p:nvSpPr>
        <p:spPr>
          <a:xfrm>
            <a:off x="280366" y="231062"/>
            <a:ext cx="11317740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“人工智能 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教育”行动计划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–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人工智能通识</a:t>
            </a:r>
          </a:p>
        </p:txBody>
      </p:sp>
    </p:spTree>
    <p:extLst>
      <p:ext uri="{BB962C8B-B14F-4D97-AF65-F5344CB8AC3E}">
        <p14:creationId xmlns:p14="http://schemas.microsoft.com/office/powerpoint/2010/main" val="250017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5CD7-2D99-0933-4205-2F4F5D98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944510-E298-AA6F-6DB6-51481FA1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16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1930DF-37AD-F24C-9AB7-BA7637BC600C}"/>
              </a:ext>
            </a:extLst>
          </p:cNvPr>
          <p:cNvSpPr/>
          <p:nvPr/>
        </p:nvSpPr>
        <p:spPr>
          <a:xfrm>
            <a:off x="322875" y="962560"/>
            <a:ext cx="11501571" cy="5214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各级各类教育部门、学校和机构应加强协调合作，为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赋能教育积极争取国家、地方和社会资源，支持学校开展人工智能教育活动。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变革的核心是思维的重塑，赋能（开设人工智能课程、普及人工智能知识、教育教学过程数字化等等）只是起点，不是目标。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仅在若干课程、个别环节或某些人员中使用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，不可能从赋能进化到变革。人工智能教育不仅是信息科技老师的任务，需要所有学科老师、辅助人员和管理人员的全员参与。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人工智能教育的起步阶段应基于国家课程（信息科技及其它），避免盲目追新追高，过早过细地关注具体内容和短期效果。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坚持“筑牢安全屏障，引领智能向善”正确价值观和素养导向。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0536CF-6BC0-F672-206E-F2765C3BCE61}"/>
              </a:ext>
            </a:extLst>
          </p:cNvPr>
          <p:cNvSpPr/>
          <p:nvPr/>
        </p:nvSpPr>
        <p:spPr>
          <a:xfrm>
            <a:off x="280366" y="231062"/>
            <a:ext cx="11317740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“人工智能 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教育”行动计划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–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赋能与变革</a:t>
            </a:r>
          </a:p>
        </p:txBody>
      </p:sp>
    </p:spTree>
    <p:extLst>
      <p:ext uri="{BB962C8B-B14F-4D97-AF65-F5344CB8AC3E}">
        <p14:creationId xmlns:p14="http://schemas.microsoft.com/office/powerpoint/2010/main" val="19724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1222-50A3-5E93-1FE5-60202D62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2D55DF-F188-80E3-0E48-79F76DB2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17</a:t>
            </a:fld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B673B4-1058-41AA-5BF9-09477C81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4" y="1450085"/>
            <a:ext cx="12108152" cy="365980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8411EBD-8376-EE1D-A6DC-2FD42D8EC658}"/>
              </a:ext>
            </a:extLst>
          </p:cNvPr>
          <p:cNvSpPr/>
          <p:nvPr/>
        </p:nvSpPr>
        <p:spPr>
          <a:xfrm>
            <a:off x="539096" y="192555"/>
            <a:ext cx="1066678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教育”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平台与工具</a:t>
            </a:r>
          </a:p>
        </p:txBody>
      </p:sp>
    </p:spTree>
    <p:extLst>
      <p:ext uri="{BB962C8B-B14F-4D97-AF65-F5344CB8AC3E}">
        <p14:creationId xmlns:p14="http://schemas.microsoft.com/office/powerpoint/2010/main" val="2629004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CC74-85BD-3CF1-7611-1B504221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20DC8C-ABFA-79DD-2C3A-D35FCC14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18</a:t>
            </a:fld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B243A5B-AB35-72D4-2D20-3C1177D77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62" y="1056264"/>
            <a:ext cx="8992875" cy="50876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97ABB73-9E37-12C6-0DF4-9975867F15A4}"/>
              </a:ext>
            </a:extLst>
          </p:cNvPr>
          <p:cNvSpPr/>
          <p:nvPr/>
        </p:nvSpPr>
        <p:spPr>
          <a:xfrm>
            <a:off x="539096" y="192555"/>
            <a:ext cx="1066678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教育”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平台与工具</a:t>
            </a:r>
          </a:p>
        </p:txBody>
      </p:sp>
    </p:spTree>
    <p:extLst>
      <p:ext uri="{BB962C8B-B14F-4D97-AF65-F5344CB8AC3E}">
        <p14:creationId xmlns:p14="http://schemas.microsoft.com/office/powerpoint/2010/main" val="180855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E7B0-F7E5-237A-D712-9AE3D94E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751C0-7507-2B49-B14D-74D701CC9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19</a:t>
            </a:fld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3883B6-EEBE-2165-FA16-CD5475E5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8243"/>
            <a:ext cx="12192000" cy="304610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3B451E4-68F7-8B18-C1F8-E8E052B75187}"/>
              </a:ext>
            </a:extLst>
          </p:cNvPr>
          <p:cNvSpPr/>
          <p:nvPr/>
        </p:nvSpPr>
        <p:spPr>
          <a:xfrm>
            <a:off x="539096" y="192555"/>
            <a:ext cx="1066678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教育”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平台与工具</a:t>
            </a:r>
          </a:p>
        </p:txBody>
      </p:sp>
    </p:spTree>
    <p:extLst>
      <p:ext uri="{BB962C8B-B14F-4D97-AF65-F5344CB8AC3E}">
        <p14:creationId xmlns:p14="http://schemas.microsoft.com/office/powerpoint/2010/main" val="95957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60782-3C46-31B1-36DB-E161D4880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389D2-66CF-A772-AA66-F037DC79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20</a:t>
            </a:fld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61F11F-3ABF-3EBA-818E-10D8D1D19396}"/>
              </a:ext>
            </a:extLst>
          </p:cNvPr>
          <p:cNvSpPr/>
          <p:nvPr/>
        </p:nvSpPr>
        <p:spPr>
          <a:xfrm>
            <a:off x="1887795" y="4974991"/>
            <a:ext cx="8436076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本地强算力、本地数据流：堵住一切可能的数据泄漏途径。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本地大模型、本地智能体：轻松应付高负荷、高成本难题。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7EAA76-3A9B-6CD7-324C-527B534D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56" t="30954" r="14123" b="17315"/>
          <a:stretch>
            <a:fillRect/>
          </a:stretch>
        </p:blipFill>
        <p:spPr>
          <a:xfrm>
            <a:off x="1887795" y="1091908"/>
            <a:ext cx="8298545" cy="38830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FB87BE6-0D56-C70A-5FEF-D816ACCE7CA5}"/>
              </a:ext>
            </a:extLst>
          </p:cNvPr>
          <p:cNvSpPr/>
          <p:nvPr/>
        </p:nvSpPr>
        <p:spPr>
          <a:xfrm>
            <a:off x="168941" y="283141"/>
            <a:ext cx="11305883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教育”行动计划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教研赋能</a:t>
            </a:r>
          </a:p>
        </p:txBody>
      </p:sp>
    </p:spTree>
    <p:extLst>
      <p:ext uri="{BB962C8B-B14F-4D97-AF65-F5344CB8AC3E}">
        <p14:creationId xmlns:p14="http://schemas.microsoft.com/office/powerpoint/2010/main" val="196310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B27C-53B2-248F-B85C-D3A5C086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D9D8EC-B0F1-B4A3-5DA0-40428DD4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21</a:t>
            </a:fld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813DD3-B4E2-520E-21CE-F1117F30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54" y="1031742"/>
            <a:ext cx="9232492" cy="512087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72495C6-17E3-4DF3-3F92-53ACC83C9B52}"/>
              </a:ext>
            </a:extLst>
          </p:cNvPr>
          <p:cNvSpPr/>
          <p:nvPr/>
        </p:nvSpPr>
        <p:spPr>
          <a:xfrm>
            <a:off x="168941" y="283141"/>
            <a:ext cx="11305883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教育”行动计划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教研赋能</a:t>
            </a:r>
          </a:p>
        </p:txBody>
      </p:sp>
    </p:spTree>
    <p:extLst>
      <p:ext uri="{BB962C8B-B14F-4D97-AF65-F5344CB8AC3E}">
        <p14:creationId xmlns:p14="http://schemas.microsoft.com/office/powerpoint/2010/main" val="51214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4B63E-1227-BFCF-D7CB-B914D9AC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C3AEB0-1A30-4E62-6529-462F6CCE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22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0CEF90-FC8D-F50A-83BD-4F0AEF7FC1D5}"/>
              </a:ext>
            </a:extLst>
          </p:cNvPr>
          <p:cNvSpPr/>
          <p:nvPr/>
        </p:nvSpPr>
        <p:spPr>
          <a:xfrm>
            <a:off x="421109" y="242954"/>
            <a:ext cx="1137644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–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将算力带到课堂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95B7EA-1C0F-EDFF-2EA2-3BAF1960B6C8}"/>
              </a:ext>
            </a:extLst>
          </p:cNvPr>
          <p:cNvSpPr txBox="1"/>
          <p:nvPr/>
        </p:nvSpPr>
        <p:spPr>
          <a:xfrm>
            <a:off x="535858" y="1330537"/>
            <a:ext cx="11120284" cy="4452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NVIDIA RTX Spark</a:t>
            </a:r>
            <a:r>
              <a:rPr lang="zh-CN" altLang="en-US" sz="2400" dirty="0"/>
              <a:t>为全球首款专为智能体打造的</a:t>
            </a:r>
            <a:r>
              <a:rPr lang="en-US" altLang="zh-CN" sz="2400" dirty="0"/>
              <a:t>Windows PC</a:t>
            </a:r>
            <a:r>
              <a:rPr lang="zh-CN" altLang="en-US" sz="2400" dirty="0"/>
              <a:t>，具备</a:t>
            </a:r>
            <a:r>
              <a:rPr lang="en-US" altLang="zh-CN" sz="2400" dirty="0"/>
              <a:t>1 Petaflop AI</a:t>
            </a:r>
            <a:r>
              <a:rPr lang="zh-CN" altLang="en-US" sz="2400" dirty="0"/>
              <a:t>性能、业界领先能效、全栈</a:t>
            </a:r>
            <a:r>
              <a:rPr lang="en-US" altLang="zh-CN" sz="2400" dirty="0"/>
              <a:t>NVIDIA AI</a:t>
            </a:r>
            <a:r>
              <a:rPr lang="zh-CN" altLang="en-US" sz="2400" dirty="0"/>
              <a:t>和图形技术，及最高</a:t>
            </a:r>
            <a:r>
              <a:rPr lang="en-US" altLang="zh-CN" sz="2400" dirty="0"/>
              <a:t>128 GB</a:t>
            </a:r>
            <a:r>
              <a:rPr lang="zh-CN" altLang="en-US" sz="2400" dirty="0"/>
              <a:t>统一内存。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与微软合作，打造原生</a:t>
            </a:r>
            <a:r>
              <a:rPr lang="en-US" altLang="zh-CN" sz="2400" dirty="0"/>
              <a:t>Windows</a:t>
            </a:r>
            <a:r>
              <a:rPr lang="zh-CN" altLang="en-US" sz="2400" dirty="0"/>
              <a:t>体验智能体，全新安全基元和</a:t>
            </a:r>
            <a:r>
              <a:rPr lang="en-US" altLang="zh-CN" sz="2400" dirty="0"/>
              <a:t>NVIDIA Open Shell</a:t>
            </a:r>
            <a:r>
              <a:rPr lang="zh-CN" altLang="en-US" sz="2400" dirty="0"/>
              <a:t>，使</a:t>
            </a:r>
            <a:r>
              <a:rPr lang="en-US" altLang="zh-CN" sz="2400" dirty="0"/>
              <a:t>AI</a:t>
            </a:r>
            <a:r>
              <a:rPr lang="zh-CN" altLang="en-US" sz="2400" dirty="0"/>
              <a:t>智能体能在用户设备上安全运行。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RTX Spark</a:t>
            </a:r>
            <a:r>
              <a:rPr lang="zh-CN" altLang="en-US" sz="2400" dirty="0"/>
              <a:t>能本地化运行</a:t>
            </a:r>
            <a:r>
              <a:rPr lang="en-US" altLang="zh-CN" sz="2400" dirty="0"/>
              <a:t>120B</a:t>
            </a:r>
            <a:r>
              <a:rPr lang="zh-CN" altLang="en-US" sz="2400" dirty="0"/>
              <a:t>参数、上下文长度可达</a:t>
            </a:r>
            <a:r>
              <a:rPr lang="en-US" altLang="zh-CN" sz="2400" dirty="0"/>
              <a:t>100</a:t>
            </a:r>
            <a:r>
              <a:rPr lang="zh-CN" altLang="en-US" sz="2400" dirty="0"/>
              <a:t>万词元的大语言模型。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华硕、戴尔、惠普、联想、微软</a:t>
            </a:r>
            <a:r>
              <a:rPr lang="en-US" altLang="zh-CN" sz="2400" dirty="0"/>
              <a:t>Surface</a:t>
            </a:r>
            <a:r>
              <a:rPr lang="zh-CN" altLang="en-US" sz="2400" dirty="0"/>
              <a:t>，以及微星、宏碁和技嘉将在今年秋季推出搭载 </a:t>
            </a:r>
            <a:r>
              <a:rPr lang="en-US" altLang="zh-CN" sz="2400" dirty="0"/>
              <a:t>RTX Spark </a:t>
            </a:r>
            <a:r>
              <a:rPr lang="zh-CN" altLang="en-US" sz="2400" dirty="0"/>
              <a:t>的轻薄</a:t>
            </a:r>
            <a:r>
              <a:rPr lang="en-US" altLang="zh-CN" sz="2400" dirty="0"/>
              <a:t>Windows</a:t>
            </a:r>
            <a:r>
              <a:rPr lang="zh-CN" altLang="en-US" sz="2400" dirty="0"/>
              <a:t>笔记本电脑，同时还将发布紧凑型和桌面型主机。</a:t>
            </a:r>
          </a:p>
        </p:txBody>
      </p:sp>
    </p:spTree>
    <p:extLst>
      <p:ext uri="{BB962C8B-B14F-4D97-AF65-F5344CB8AC3E}">
        <p14:creationId xmlns:p14="http://schemas.microsoft.com/office/powerpoint/2010/main" val="406541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BD672-9E89-2EBE-BED4-456CA215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666F3A-2C49-2D58-85C2-88CC3511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23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80A693-DD5B-D57D-5E9E-7ADD2EAC9F83}"/>
              </a:ext>
            </a:extLst>
          </p:cNvPr>
          <p:cNvSpPr/>
          <p:nvPr/>
        </p:nvSpPr>
        <p:spPr>
          <a:xfrm>
            <a:off x="264967" y="253418"/>
            <a:ext cx="11403338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将算力带到课堂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AE7AF60-750A-AF85-172D-8B19933E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67" y="1248697"/>
            <a:ext cx="7768492" cy="38937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DEAF79C-3677-411D-57AC-7A51D5CDE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028" y="2261419"/>
            <a:ext cx="7062489" cy="380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9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3893-9263-BBBC-A670-6B8D6139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F73FF-1E8A-E467-1F4C-CD33BAC7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24</a:t>
            </a:fld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E6F336-4E4F-9481-47A7-DB9D0611A41F}"/>
              </a:ext>
            </a:extLst>
          </p:cNvPr>
          <p:cNvSpPr txBox="1"/>
          <p:nvPr/>
        </p:nvSpPr>
        <p:spPr>
          <a:xfrm>
            <a:off x="557981" y="1215748"/>
            <a:ext cx="107958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A2B4AF-7172-9A18-5921-ADB89CC4A23B}"/>
              </a:ext>
            </a:extLst>
          </p:cNvPr>
          <p:cNvSpPr txBox="1"/>
          <p:nvPr/>
        </p:nvSpPr>
        <p:spPr>
          <a:xfrm>
            <a:off x="1111046" y="1485679"/>
            <a:ext cx="7912509" cy="3886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结论可靠性隐患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文献溯源与署名体系受损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科研激励机制失衡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成果评价乱象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学科自主性被侵蚀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伦理衍生风险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F755C3-2A5C-0EE1-7D0E-921B9A362529}"/>
              </a:ext>
            </a:extLst>
          </p:cNvPr>
          <p:cNvSpPr/>
          <p:nvPr/>
        </p:nvSpPr>
        <p:spPr>
          <a:xfrm>
            <a:off x="421109" y="242954"/>
            <a:ext cx="11905362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–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坚守核心价值</a:t>
            </a:r>
          </a:p>
        </p:txBody>
      </p:sp>
    </p:spTree>
    <p:extLst>
      <p:ext uri="{BB962C8B-B14F-4D97-AF65-F5344CB8AC3E}">
        <p14:creationId xmlns:p14="http://schemas.microsoft.com/office/powerpoint/2010/main" val="420187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CC641-6291-FB8D-E89D-9978F3A7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6FE2D-1349-E2F3-0561-F69BFB4E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25</a:t>
            </a:fld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DA68342-02C0-69ED-4FC3-E0B2F7782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90" y="1780506"/>
            <a:ext cx="7462019" cy="420586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793D51-1D33-DC86-F786-83B3B365BF6F}"/>
              </a:ext>
            </a:extLst>
          </p:cNvPr>
          <p:cNvSpPr txBox="1"/>
          <p:nvPr/>
        </p:nvSpPr>
        <p:spPr>
          <a:xfrm>
            <a:off x="2683745" y="1182517"/>
            <a:ext cx="6824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陶哲轩：学生应如何合理运用</a:t>
            </a:r>
            <a:r>
              <a:rPr lang="en-US" altLang="zh-CN" sz="2800" dirty="0"/>
              <a:t>AI</a:t>
            </a:r>
            <a:r>
              <a:rPr lang="zh-CN" altLang="en-US" sz="2800" dirty="0"/>
              <a:t>人工智能？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6E19D0-3823-B357-6354-369A3945FAD7}"/>
              </a:ext>
            </a:extLst>
          </p:cNvPr>
          <p:cNvSpPr/>
          <p:nvPr/>
        </p:nvSpPr>
        <p:spPr>
          <a:xfrm>
            <a:off x="421109" y="242954"/>
            <a:ext cx="10641338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–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应对风险</a:t>
            </a:r>
          </a:p>
        </p:txBody>
      </p:sp>
    </p:spTree>
    <p:extLst>
      <p:ext uri="{BB962C8B-B14F-4D97-AF65-F5344CB8AC3E}">
        <p14:creationId xmlns:p14="http://schemas.microsoft.com/office/powerpoint/2010/main" val="1780619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403C-D3AB-3A54-8543-AA19732F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0E5F8-B930-9B9A-F7D9-0838F395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26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AAD30D-A727-BD98-35A9-ECA6D2410B2F}"/>
              </a:ext>
            </a:extLst>
          </p:cNvPr>
          <p:cNvSpPr txBox="1"/>
          <p:nvPr/>
        </p:nvSpPr>
        <p:spPr>
          <a:xfrm>
            <a:off x="1091842" y="1162514"/>
            <a:ext cx="6096000" cy="453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作业作弊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技能退化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使用者更难接受建设性批评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依赖性和习得性无助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加剧不信任专业权威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认知摩擦和学习机会同时消失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认知多样性的降低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2F82B5-B064-51C2-1178-18211340D08C}"/>
              </a:ext>
            </a:extLst>
          </p:cNvPr>
          <p:cNvSpPr/>
          <p:nvPr/>
        </p:nvSpPr>
        <p:spPr>
          <a:xfrm>
            <a:off x="421109" y="242954"/>
            <a:ext cx="10641338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–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应对风险</a:t>
            </a:r>
          </a:p>
        </p:txBody>
      </p:sp>
    </p:spTree>
    <p:extLst>
      <p:ext uri="{BB962C8B-B14F-4D97-AF65-F5344CB8AC3E}">
        <p14:creationId xmlns:p14="http://schemas.microsoft.com/office/powerpoint/2010/main" val="86829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BFB0-F23F-396D-D61C-6D5F7ABDF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6B280E-FC9F-258B-07BC-7286F360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27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C3AC23-C3C4-FC16-1781-92934C0C0A02}"/>
              </a:ext>
            </a:extLst>
          </p:cNvPr>
          <p:cNvSpPr txBox="1"/>
          <p:nvPr/>
        </p:nvSpPr>
        <p:spPr>
          <a:xfrm>
            <a:off x="1230361" y="1343034"/>
            <a:ext cx="7518758" cy="2593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强调解题过程的重要性大于答案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允许失败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寻找新角度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让大模型之间对抗，你当裁判</a:t>
            </a:r>
            <a:endParaRPr lang="en-US" altLang="zh-CN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BD07A6-C7DC-32F7-9F46-9B7E28366A68}"/>
              </a:ext>
            </a:extLst>
          </p:cNvPr>
          <p:cNvSpPr txBox="1"/>
          <p:nvPr/>
        </p:nvSpPr>
        <p:spPr>
          <a:xfrm>
            <a:off x="590397" y="4289694"/>
            <a:ext cx="11021500" cy="955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Lean</a:t>
            </a:r>
            <a:r>
              <a:rPr lang="zh-CN" altLang="en-US" sz="2000" dirty="0"/>
              <a:t>完全具备了中小学在数学教育层面的检查能力，因此数学是</a:t>
            </a:r>
            <a:r>
              <a:rPr lang="en-US" altLang="zh-CN" sz="2000" dirty="0"/>
              <a:t>AI</a:t>
            </a:r>
            <a:r>
              <a:rPr lang="zh-CN" altLang="en-US" sz="2000" dirty="0"/>
              <a:t>最有前途的用例之一，因为它有能力验证我们用</a:t>
            </a:r>
            <a:r>
              <a:rPr lang="en-US" altLang="zh-CN" sz="2000" dirty="0"/>
              <a:t>AI</a:t>
            </a:r>
            <a:r>
              <a:rPr lang="zh-CN" altLang="en-US" sz="2000" dirty="0"/>
              <a:t>生成的输出。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D286A0-BCEA-3DCD-B82B-E2C978F3714B}"/>
              </a:ext>
            </a:extLst>
          </p:cNvPr>
          <p:cNvSpPr/>
          <p:nvPr/>
        </p:nvSpPr>
        <p:spPr>
          <a:xfrm>
            <a:off x="421109" y="242954"/>
            <a:ext cx="10641338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–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应对风险</a:t>
            </a:r>
          </a:p>
        </p:txBody>
      </p:sp>
    </p:spTree>
    <p:extLst>
      <p:ext uri="{BB962C8B-B14F-4D97-AF65-F5344CB8AC3E}">
        <p14:creationId xmlns:p14="http://schemas.microsoft.com/office/powerpoint/2010/main" val="13079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A230-6EA9-7150-BB1F-89FFE597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66CC37-4DD7-A521-E8C6-05E5528D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28</a:t>
            </a:fld>
            <a:endParaRPr lang="en-US" altLang="zh-C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853032-CB24-F21B-21E6-F700086DE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366" y="1062728"/>
            <a:ext cx="9517267" cy="50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AF867E9-272A-CD4E-3214-08F8F471355E}"/>
              </a:ext>
            </a:extLst>
          </p:cNvPr>
          <p:cNvSpPr/>
          <p:nvPr/>
        </p:nvSpPr>
        <p:spPr>
          <a:xfrm>
            <a:off x="421109" y="242954"/>
            <a:ext cx="11905362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–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坚守核心价值</a:t>
            </a:r>
          </a:p>
        </p:txBody>
      </p:sp>
    </p:spTree>
    <p:extLst>
      <p:ext uri="{BB962C8B-B14F-4D97-AF65-F5344CB8AC3E}">
        <p14:creationId xmlns:p14="http://schemas.microsoft.com/office/powerpoint/2010/main" val="1359264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9FBA-465E-D1E5-4704-4EE1F23CE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13DD2-6495-3CB9-1B2B-34000C56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29</a:t>
            </a:fld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A51619-510F-6075-81D6-14D27CF4AA43}"/>
              </a:ext>
            </a:extLst>
          </p:cNvPr>
          <p:cNvSpPr txBox="1"/>
          <p:nvPr/>
        </p:nvSpPr>
        <p:spPr>
          <a:xfrm>
            <a:off x="557981" y="1215748"/>
            <a:ext cx="1079581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zh-CN" altLang="en-US" sz="2000" dirty="0"/>
              <a:t>开展数学研究的动因多元，既有求知欲驱动，也为破解现实社会难题；证明是数学的根基，数学证明既能给出严谨可靠的结论，也能阐释结论成立的内在逻辑，是数学科研诚信的基石。</a:t>
            </a:r>
          </a:p>
          <a:p>
            <a:pPr marL="457200" indent="-457200" algn="just">
              <a:buFont typeface="+mj-lt"/>
              <a:buAutoNum type="arabicPeriod"/>
            </a:pPr>
            <a:endParaRPr lang="zh-CN" alt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zh-CN" altLang="en-US" sz="2000" dirty="0"/>
              <a:t>科研成果归属明确的创作者，作者享有成果署名权，同时对结论正误全权负责；这套准则是数学领域以学术水平论优劣的评审根基。</a:t>
            </a:r>
          </a:p>
          <a:p>
            <a:pPr marL="457200" indent="-457200" algn="just">
              <a:buFont typeface="+mj-lt"/>
              <a:buAutoNum type="arabicPeriod"/>
            </a:pPr>
            <a:endParaRPr lang="zh-CN" alt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zh-CN" altLang="en-US" sz="2000" dirty="0"/>
              <a:t>数学论证讲求公开透明、可独立核验，即便推导冗长晦涩，原则上不能依靠专有技术、涉密设备才能看懂。</a:t>
            </a:r>
          </a:p>
          <a:p>
            <a:pPr marL="457200" indent="-457200" algn="just">
              <a:buFont typeface="+mj-lt"/>
              <a:buAutoNum type="arabicPeriod"/>
            </a:pPr>
            <a:endParaRPr lang="zh-CN" alt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zh-CN" altLang="en-US" sz="2000" dirty="0"/>
              <a:t>学界依托深度、难度、学术价值的统一标准，客观评判各项数学成果。</a:t>
            </a:r>
          </a:p>
          <a:p>
            <a:pPr marL="457200" indent="-457200" algn="just">
              <a:buFont typeface="+mj-lt"/>
              <a:buAutoNum type="arabicPeriod"/>
            </a:pPr>
            <a:endParaRPr lang="zh-CN" alt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zh-CN" altLang="en-US" sz="2000" dirty="0"/>
              <a:t>数学不止产出定理结论，更在一代代研究者自主探索中沉淀认知、逻辑判断力与专业洞见；这类专业积淀是数学落地应用、提出全新重大科研问题的关键，自主把控研究方向与研究方法是数学长久发展的核心优势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2B66B2-257A-00F2-736F-532777175F9A}"/>
              </a:ext>
            </a:extLst>
          </p:cNvPr>
          <p:cNvSpPr/>
          <p:nvPr/>
        </p:nvSpPr>
        <p:spPr>
          <a:xfrm>
            <a:off x="421109" y="242954"/>
            <a:ext cx="11905362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–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坚守核心价值</a:t>
            </a:r>
          </a:p>
        </p:txBody>
      </p:sp>
    </p:spTree>
    <p:extLst>
      <p:ext uri="{BB962C8B-B14F-4D97-AF65-F5344CB8AC3E}">
        <p14:creationId xmlns:p14="http://schemas.microsoft.com/office/powerpoint/2010/main" val="259405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29EA-B7C9-96A9-3827-37A94B12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17F7CD-1D2C-9153-E2C5-4F8C261C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D19F-D5B0-4C45-A310-306285F6C98E}" type="slidenum">
              <a:rPr lang="en-US" altLang="zh-CN" smtClean="0"/>
              <a:t>30</a:t>
            </a:fld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CD5B41-B149-CDA4-11E7-8FE8D3A7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5" y="1095022"/>
            <a:ext cx="3342222" cy="50122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020B171-D4EC-9283-1AAD-9FBD993EC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67" y="1265222"/>
            <a:ext cx="8720433" cy="467186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0C14E41-53B1-DE09-DEEF-C139EEA04A66}"/>
              </a:ext>
            </a:extLst>
          </p:cNvPr>
          <p:cNvSpPr/>
          <p:nvPr/>
        </p:nvSpPr>
        <p:spPr>
          <a:xfrm>
            <a:off x="421109" y="242954"/>
            <a:ext cx="11641546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“人工智能 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+ 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教育”行动计划</a:t>
            </a:r>
            <a:r>
              <a:rPr lang="en-US" altLang="zh-CN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</a:rPr>
              <a:t>–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坚守核心价值</a:t>
            </a:r>
          </a:p>
        </p:txBody>
      </p:sp>
    </p:spTree>
    <p:extLst>
      <p:ext uri="{BB962C8B-B14F-4D97-AF65-F5344CB8AC3E}">
        <p14:creationId xmlns:p14="http://schemas.microsoft.com/office/powerpoint/2010/main" val="3550752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59AEF47-45D1-B644-D185-350FFA403DE1}"/>
              </a:ext>
            </a:extLst>
          </p:cNvPr>
          <p:cNvCxnSpPr>
            <a:cxnSpLocks/>
          </p:cNvCxnSpPr>
          <p:nvPr/>
        </p:nvCxnSpPr>
        <p:spPr>
          <a:xfrm>
            <a:off x="335360" y="3933056"/>
            <a:ext cx="11665296" cy="0"/>
          </a:xfrm>
          <a:prstGeom prst="straightConnector1">
            <a:avLst/>
          </a:prstGeom>
          <a:ln>
            <a:solidFill>
              <a:srgbClr val="62C5DC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905602F5-6533-FB35-07E6-AE4B2E40E7BC}"/>
              </a:ext>
            </a:extLst>
          </p:cNvPr>
          <p:cNvSpPr/>
          <p:nvPr/>
        </p:nvSpPr>
        <p:spPr>
          <a:xfrm>
            <a:off x="10973828" y="3212976"/>
            <a:ext cx="594780" cy="594780"/>
          </a:xfrm>
          <a:prstGeom prst="ellipse">
            <a:avLst/>
          </a:prstGeom>
          <a:solidFill>
            <a:srgbClr val="62C5D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344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anose="02010609030101010101" pitchFamily="49" charset="-122"/>
              </a:rPr>
              <a:t>@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anose="0201060903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82BE6C-43CF-3BDE-2581-5EBEFFC2C663}"/>
              </a:ext>
            </a:extLst>
          </p:cNvPr>
          <p:cNvSpPr/>
          <p:nvPr/>
        </p:nvSpPr>
        <p:spPr>
          <a:xfrm>
            <a:off x="1271464" y="2780928"/>
            <a:ext cx="9334500" cy="1704975"/>
          </a:xfrm>
          <a:prstGeom prst="rect">
            <a:avLst/>
          </a:prstGeom>
          <a:solidFill>
            <a:srgbClr val="62C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7C0DBB-4157-3976-40EC-FD86A6E032D2}"/>
              </a:ext>
            </a:extLst>
          </p:cNvPr>
          <p:cNvSpPr txBox="1"/>
          <p:nvPr/>
        </p:nvSpPr>
        <p:spPr>
          <a:xfrm>
            <a:off x="3428998" y="3279472"/>
            <a:ext cx="5334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b="1" kern="0">
                <a:solidFill>
                  <a:srgbClr val="8D3D4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j-cs"/>
              </a:defRPr>
            </a:lvl1pPr>
          </a:lstStyle>
          <a:p>
            <a:pPr algn="dist"/>
            <a:r>
              <a:rPr lang="zh-CN" altLang="en-US" dirty="0">
                <a:solidFill>
                  <a:schemeClr val="bg1"/>
                </a:solidFill>
                <a:effectLst/>
              </a:rPr>
              <a:t>谢谢观看  欢迎指正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2783</Words>
  <Application>Microsoft Office PowerPoint</Application>
  <PresentationFormat>宽屏</PresentationFormat>
  <Paragraphs>169</Paragraphs>
  <Slides>31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黑体</vt:lpstr>
      <vt:lpstr>思源黑体 CN Heavy</vt:lpstr>
      <vt:lpstr>思源黑体 CN Medium</vt:lpstr>
      <vt:lpstr>微软雅黑</vt:lpstr>
      <vt:lpstr>Arial</vt:lpstr>
      <vt:lpstr>Arial Black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磊 樊</cp:lastModifiedBy>
  <cp:revision>19</cp:revision>
  <dcterms:created xsi:type="dcterms:W3CDTF">2019-09-19T02:01:00Z</dcterms:created>
  <dcterms:modified xsi:type="dcterms:W3CDTF">2026-06-24T09:10:34Z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